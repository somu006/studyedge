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21" r:id="rId4"/>
    <p:sldMasterId id="2147483941" r:id="rId5"/>
  </p:sldMasterIdLst>
  <p:notesMasterIdLst>
    <p:notesMasterId r:id="rId13"/>
  </p:notesMasterIdLst>
  <p:handoutMasterIdLst>
    <p:handoutMasterId r:id="rId14"/>
  </p:handoutMasterIdLst>
  <p:sldIdLst>
    <p:sldId id="2147479510" r:id="rId6"/>
    <p:sldId id="2147478866" r:id="rId7"/>
    <p:sldId id="2147478862" r:id="rId8"/>
    <p:sldId id="2147478861" r:id="rId9"/>
    <p:sldId id="2147478864" r:id="rId10"/>
    <p:sldId id="2147478840" r:id="rId11"/>
    <p:sldId id="214747951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orient="horz" pos="3480" userDrawn="1">
          <p15:clr>
            <a:srgbClr val="A4A3A4"/>
          </p15:clr>
        </p15:guide>
        <p15:guide id="3" orient="horz" pos="1968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0FE45A-7076-C060-3926-02C230FFCD7B}" name="Gartner, David (Cognizant)" initials="GD(" userId="S::930056@cognizant.com::31109c44-657a-4c1f-917c-0cd2083250d2" providerId="AD"/>
  <p188:author id="{8A5BD095-9E65-7BE9-45FB-30FB8BB32066}" name="U V, Suma (Cognizant)" initials="UVS(" userId="S::130507@cognizant.com::4f7947b8-3b59-458a-ab0c-e8875a4c651f" providerId="AD"/>
  <p188:author id="{99F93FB6-C18C-5FBA-5487-DBE9A471B604}" name="Jennifer Kelly" initials="JK" userId="c+VufwqJC72uMbGB6Qy3ESl4lWVfVYW4DP6fjOUmpX4=" providerId="None"/>
  <p188:author id="{AFF83BBF-8DC2-56B1-7D97-F4B62A6558D1}" name="Holsinger, Sophie (Contractor)" initials="H(" userId="qSv0elhcSqVZ6Und2jvxKda9UaW6eolhxm7dQQjF6aw=" providerId="None"/>
  <p188:author id="{0DF45BD4-5C8A-2E2D-FEE5-54A7402B3C0A}" name="Michelle Loeb" initials="ML" userId="y5thoKV0uDjaThbJPgxbMhWQvDJapLNicr5yuEWdci8=" providerId="None"/>
  <p188:author id="{561DB6D9-3341-C508-291F-4E7B425C4BEE}" name="La Cascia, Lynne (Cognizant)" initials="L(" userId="XzsV+nJzGmSCzj+6LOZ0MUrq7QBF9d0P2TCBTjMm7P4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kki Feuerstein" initials="RF" lastIdx="118" clrIdx="0">
    <p:extLst>
      <p:ext uri="{19B8F6BF-5375-455C-9EA6-DF929625EA0E}">
        <p15:presenceInfo xmlns:p15="http://schemas.microsoft.com/office/powerpoint/2012/main" userId="9696b6c1086d6638" providerId="Windows Live"/>
      </p:ext>
    </p:extLst>
  </p:cmAuthor>
  <p:cmAuthor id="2" name="Alex DiMaio" initials="AD" lastIdx="327" clrIdx="1">
    <p:extLst>
      <p:ext uri="{19B8F6BF-5375-455C-9EA6-DF929625EA0E}">
        <p15:presenceInfo xmlns:p15="http://schemas.microsoft.com/office/powerpoint/2012/main" userId="S::adimaio@tenetpartner.onmicrosoft.com::b1481f74-343d-4e6b-b114-ca2ded61f9f6" providerId="AD"/>
      </p:ext>
    </p:extLst>
  </p:cmAuthor>
  <p:cmAuthor id="3" name="Microsoft Office User" initials="MOU" lastIdx="4" clrIdx="2"/>
  <p:cmAuthor id="4" name="Gartner, David (Cognizant)" initials="GD(" lastIdx="61" clrIdx="3">
    <p:extLst>
      <p:ext uri="{19B8F6BF-5375-455C-9EA6-DF929625EA0E}">
        <p15:presenceInfo xmlns:p15="http://schemas.microsoft.com/office/powerpoint/2012/main" userId="S::930056@cognizant.com::31109c44-657a-4c1f-917c-0cd2083250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8"/>
    <a:srgbClr val="05819B"/>
    <a:srgbClr val="0ED1D3"/>
    <a:srgbClr val="E2FDFE"/>
    <a:srgbClr val="26EFE9"/>
    <a:srgbClr val="23ECE7"/>
    <a:srgbClr val="1EE5E2"/>
    <a:srgbClr val="19DEDD"/>
    <a:srgbClr val="16DBDB"/>
    <a:srgbClr val="13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>
        <p:guide orient="horz" pos="1584"/>
        <p:guide orient="horz" pos="3480"/>
        <p:guide orient="horz" pos="19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658FED-51F9-9B45-B597-1E80080F05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449CD-7629-F94E-AB7C-5B049A15EC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07195-0CC2-A547-89CA-57E183807FCC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FED8-4762-F94C-A006-546565DF54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831462-D62C-8C42-B544-F3E0E7018A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F4819-B501-CC4D-93F0-10A4E74E02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352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00608-096F-0448-BF1C-AC23D45B3CD2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A3903-E1C0-B641-BF09-7903E2AE2E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75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90CC5-E31C-45D5-FFE7-A6C4A15B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0CC6C-8F35-FCB5-D02A-08D1A59C2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4D316-D2D6-CA0C-044F-E7A2F920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3140D-0BFD-6DB6-5FF7-A281BEB9D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4660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2239A-7ECE-C8B3-E865-5595C503C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ADB0-7191-D080-D482-8472CB04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25029-1B80-70F9-1D4B-BE2707C1A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B4EF7-4DD3-D4F4-A12C-379C22783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3429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5EA13-AF1A-8B70-96F6-19C21A3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D5ED-DB7D-4BC8-B98A-A3CC296962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A99350-DAA3-61A8-DC34-58BD693BDE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8BFF-E1EC-42C7-6256-DA0762898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504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F66E-23D1-8FD4-6C65-7826EE739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EED11-5708-90FB-D6A0-5DB662548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06FF-8AAC-DEB5-CEE8-9DBF9B861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8EDBF-6D04-5580-12FF-983D5EFA0E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9A3903-E1C0-B641-BF09-7903E2AE2EC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056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2199" y="-16933"/>
            <a:ext cx="7307799" cy="68749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1903671"/>
            <a:ext cx="6053327" cy="1846659"/>
          </a:xfrm>
        </p:spPr>
        <p:txBody>
          <a:bodyPr wrap="square" anchor="ctr" anchorCtr="0">
            <a:spAutoFit/>
          </a:bodyPr>
          <a:lstStyle>
            <a:lvl1pPr algn="l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09DE29-D9FA-4B0E-A7C0-43DB36D3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325193"/>
            <a:ext cx="1822704" cy="3035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7FC31-4B65-4AE0-A928-66D0B6CC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1400" y="3897548"/>
            <a:ext cx="6053322" cy="1295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72758" y="381864"/>
            <a:ext cx="2067983" cy="62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5678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5">
            <a:extLst>
              <a:ext uri="{FF2B5EF4-FFF2-40B4-BE49-F238E27FC236}">
                <a16:creationId xmlns:a16="http://schemas.microsoft.com/office/drawing/2014/main" id="{304C88D0-29FE-C440-9C89-488968EEA1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4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4703109E-6BFC-1742-809E-63EC7ED7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42416" y="6263640"/>
            <a:ext cx="119817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199" y="6263639"/>
            <a:ext cx="352097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F353D65A-B34C-B04E-8C59-65EFBD2634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68530" y="6352478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8781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- 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8BC2B5B-70BA-CE41-9C8E-4A1C418D7D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05840" y="3429000"/>
            <a:ext cx="8849360" cy="15001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5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Attributor name is 16pt Arial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A13EBB4-2E96-D446-A07D-04B7507328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005840" y="1943100"/>
            <a:ext cx="8849360" cy="997196"/>
          </a:xfrm>
        </p:spPr>
        <p:txBody>
          <a:bodyPr anchor="b" anchorCtr="0"/>
          <a:lstStyle>
            <a:lvl1pPr algn="l" rtl="0" eaLnBrk="1" latinLnBrk="0" hangingPunct="1">
              <a:defRPr lang="en-US" sz="3600" smtClean="0">
                <a:effectLst/>
              </a:defRPr>
            </a:lvl1pPr>
          </a:lstStyle>
          <a:p>
            <a:pPr rtl="0" eaLnBrk="1" latinLnBrk="0" hangingPunct="1"/>
            <a:r>
              <a:rPr lang="en-US"/>
              <a:t>Click to edit statement or quote </a:t>
            </a:r>
            <a:br>
              <a:rPr lang="en-US"/>
            </a:br>
            <a:r>
              <a:rPr lang="en-US"/>
              <a:t>in Arial 36pt bold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50B4EFF-B670-387B-EBF2-318801CE65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54DEEBD-7FD8-B1BF-8875-FF2A60284D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9843C2-5350-C728-A4D6-7EEEACAF75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2186"/>
            <a:ext cx="12192000" cy="686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14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2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6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5E5E72-A3E8-334F-8440-9071B445F06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200" y="1524003"/>
            <a:ext cx="10807700" cy="4191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4E4AF-DC74-4D20-8889-EEAA33BF6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557784"/>
            <a:ext cx="10808209" cy="307777"/>
          </a:xfr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F00D856-F97D-6D4D-B68C-59A8B3CA0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438348"/>
            <a:ext cx="1816531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08676A9-C75A-6044-B235-6820F466A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438651"/>
            <a:ext cx="352097" cy="19074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45599541-E568-D346-8D2A-006A8CA8D6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482419" y="6352479"/>
            <a:ext cx="1362108" cy="40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627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569">
          <p15:clr>
            <a:srgbClr val="FBAE40"/>
          </p15:clr>
        </p15:guide>
        <p15:guide id="3" orient="horz" pos="960">
          <p15:clr>
            <a:srgbClr val="FBAE40"/>
          </p15:clr>
        </p15:guide>
        <p15:guide id="4" pos="7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© 2025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1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796" r:id="rId2"/>
    <p:sldLayoutId id="2147483797" r:id="rId3"/>
    <p:sldLayoutId id="2147483990" r:id="rId4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57784"/>
            <a:ext cx="10808209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526723"/>
            <a:ext cx="10808209" cy="413730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15BBF-C237-4C9F-A0A0-755261F59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42416" y="6325193"/>
            <a:ext cx="2056384" cy="303572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2026 Cognizant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199" y="6325299"/>
            <a:ext cx="352097" cy="3041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953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5" r:id="rId2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79438" indent="-230188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65188" indent="-230188" algn="l" defTabSz="914400" rtl="0" eaLnBrk="1" latinLnBrk="0" hangingPunct="1">
        <a:lnSpc>
          <a:spcPct val="100000"/>
        </a:lnSpc>
        <a:spcBef>
          <a:spcPts val="500"/>
        </a:spcBef>
        <a:buFont typeface="Cambria" panose="02040503050406030204" pitchFamily="18" charset="0"/>
        <a:buChar char="⎻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>
          <p15:clr>
            <a:srgbClr val="F26B43"/>
          </p15:clr>
        </p15:guide>
        <p15:guide id="2" pos="285">
          <p15:clr>
            <a:srgbClr val="F26B43"/>
          </p15:clr>
        </p15:guide>
        <p15:guide id="3" orient="horz" pos="3943">
          <p15:clr>
            <a:srgbClr val="F26B43"/>
          </p15:clr>
        </p15:guide>
        <p15:guide id="4" orient="horz" pos="288">
          <p15:clr>
            <a:srgbClr val="F26B43"/>
          </p15:clr>
        </p15:guide>
        <p15:guide id="5" orient="horz" pos="41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mu006/StudyEdg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hyperlink" Target="http://54.89.167.234:9000/" TargetMode="External"/><Relationship Id="rId4" Type="http://schemas.openxmlformats.org/officeDocument/2006/relationships/hyperlink" Target="http://54.89.167.234:3000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FCC2E60-57B6-1161-2BEC-AEB5B3562B8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247" y="4724591"/>
            <a:ext cx="9509994" cy="1500188"/>
          </a:xfrm>
        </p:spPr>
        <p:txBody>
          <a:bodyPr/>
          <a:lstStyle/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Title : MachineWhisperer</a:t>
            </a:r>
          </a:p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Captain Name : Soumyajit Sarkar</a:t>
            </a:r>
          </a:p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Names : Soumyajit Sarkar , Krishna Agrawal, Reshma </a:t>
            </a:r>
            <a:r>
              <a:rPr lang="en-US" sz="18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Bhuyan</a:t>
            </a: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Tanisha </a:t>
            </a:r>
            <a:r>
              <a:rPr lang="en-US" sz="18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</a:t>
            </a:r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: Odisha University Of Technology and Research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5D5327-9268-AC36-16BC-D3D4B4F25D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3247" y="3212270"/>
            <a:ext cx="9338360" cy="677108"/>
          </a:xfrm>
        </p:spPr>
        <p:txBody>
          <a:bodyPr/>
          <a:lstStyle/>
          <a:p>
            <a:r>
              <a:rPr lang="en-IN" sz="4400" dirty="0">
                <a:solidFill>
                  <a:schemeClr val="bg1"/>
                </a:solidFill>
              </a:rPr>
              <a:t>Study Edge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4D593-0A14-7819-33D9-764A6414A67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 2025–2027 Cognizant | Private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413F6-478A-A902-39B1-3F8B38F63BB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8826FC0-333C-E549-9FA3-0EE43DF298A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9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658E-EA74-4702-7179-E21A88D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B8DBEF-A90E-75BD-2BC7-7AFC952C0D9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6DD68C-8495-5A60-1BE1-C5F37EFBDA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406389"/>
            <a:ext cx="1908929" cy="27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© 2026 Cognizant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820A1C-385C-1B2C-7EBF-696FA22911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4718" y="6441045"/>
            <a:ext cx="352097" cy="19074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7217ED1-02B9-3398-C290-8D4133CD5DC4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MachineWhisperer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71EA97-7795-6D51-F716-B94C0F1807E9}"/>
              </a:ext>
            </a:extLst>
          </p:cNvPr>
          <p:cNvSpPr txBox="1"/>
          <p:nvPr/>
        </p:nvSpPr>
        <p:spPr>
          <a:xfrm>
            <a:off x="516815" y="1331170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96E19-4443-120E-D81A-C7692D38A498}"/>
              </a:ext>
            </a:extLst>
          </p:cNvPr>
          <p:cNvSpPr txBox="1"/>
          <p:nvPr/>
        </p:nvSpPr>
        <p:spPr>
          <a:xfrm>
            <a:off x="6188785" y="1331171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1144D771-232B-BF8B-99CB-FE62206D01F0}"/>
              </a:ext>
            </a:extLst>
          </p:cNvPr>
          <p:cNvSpPr/>
          <p:nvPr/>
        </p:nvSpPr>
        <p:spPr>
          <a:xfrm>
            <a:off x="516815" y="1044264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4C65C9D-AA15-5E74-6D9B-F3AD0A55B2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516815" y="1474030"/>
            <a:ext cx="5267932" cy="4374363"/>
          </a:xfrm>
        </p:spPr>
        <p:txBody>
          <a:bodyPr/>
          <a:lstStyle/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manufacturing plants lose 5-15% of annual revenue due to unplanned equipment failures. 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Screw compressors, CNC machines, and industrial motors fail without warning, causing costly downtime, safety incidents, and missed production targets.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maintenance is either reactive (fix after failure) or scheduled maintenance. </a:t>
            </a: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sz="1800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190" lvl="0" indent="-285750"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software predicting failures before they occur, and automatically generates maintenance workflows for plant engineers.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EDC63FB0-4F2F-5940-C47A-29942B42D70B}"/>
              </a:ext>
            </a:extLst>
          </p:cNvPr>
          <p:cNvSpPr/>
          <p:nvPr/>
        </p:nvSpPr>
        <p:spPr>
          <a:xfrm>
            <a:off x="6188785" y="1024939"/>
            <a:ext cx="3924300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defTabSz="684638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kern="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Solution Description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1CEA55F-2FE1-D4B5-990B-70972475C51F}"/>
              </a:ext>
            </a:extLst>
          </p:cNvPr>
          <p:cNvSpPr txBox="1">
            <a:spLocks/>
          </p:cNvSpPr>
          <p:nvPr/>
        </p:nvSpPr>
        <p:spPr>
          <a:xfrm>
            <a:off x="6188785" y="1468810"/>
            <a:ext cx="5029200" cy="42072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Eliminating the "Wait-Time":                            Shift maintenance from Reactive to Autonomous.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Our system doesn't just predict RUL ; it acts.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Agentic Edge: Our </a:t>
            </a:r>
            <a:r>
              <a:rPr lang="en-US" sz="1800" dirty="0" err="1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 machine serves as a 24/7 Virtual Engineer that classifies faults, generates work orders, and executes Auto-Fix parameter pushes to stabilize the machine in seconds — not hours. </a:t>
            </a:r>
          </a:p>
          <a:p>
            <a:pPr marL="377190" indent="-285750">
              <a:buFont typeface="Arial" panose="020B0604020202020204" pitchFamily="34" charset="0"/>
              <a:buChar char="•"/>
              <a:defRPr/>
            </a:pPr>
            <a:r>
              <a:rPr lang="en-US" sz="1800" dirty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Enterprise-Grade Scalability: Built on AWS (DynamoDB, S3, SNS), ensuring a 99.9% reliable audit trail of every sensor reading and maintenance decision.</a:t>
            </a:r>
          </a:p>
        </p:txBody>
      </p:sp>
    </p:spTree>
    <p:extLst>
      <p:ext uri="{BB962C8B-B14F-4D97-AF65-F5344CB8AC3E}">
        <p14:creationId xmlns:p14="http://schemas.microsoft.com/office/powerpoint/2010/main" val="1988725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8DD6-6B52-5474-6250-F96E193D9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1468F1D-9D6A-599A-0443-E1FFE4CFDA8E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407D3AD-54C1-1F86-6123-0DE94629CA8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MachineWhisperer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C38E29-9EFF-F208-66A5-0D909001F7B8}"/>
              </a:ext>
            </a:extLst>
          </p:cNvPr>
          <p:cNvSpPr txBox="1"/>
          <p:nvPr/>
        </p:nvSpPr>
        <p:spPr>
          <a:xfrm>
            <a:off x="516816" y="1452788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DDDEF-C999-7A8D-AE1D-89507AEC2968}"/>
              </a:ext>
            </a:extLst>
          </p:cNvPr>
          <p:cNvSpPr txBox="1"/>
          <p:nvPr/>
        </p:nvSpPr>
        <p:spPr>
          <a:xfrm>
            <a:off x="6212308" y="1485551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525EBED6-B2DB-B91B-284D-B232A7F40575}"/>
              </a:ext>
            </a:extLst>
          </p:cNvPr>
          <p:cNvSpPr/>
          <p:nvPr/>
        </p:nvSpPr>
        <p:spPr>
          <a:xfrm>
            <a:off x="516815" y="1024940"/>
            <a:ext cx="3924300" cy="39266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Uniqueness / Innovativeness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F293E2CD-A5B9-36EA-2CDA-4A9098BC00B6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35476" y="1510947"/>
            <a:ext cx="5249079" cy="4415459"/>
          </a:xfrm>
        </p:spPr>
        <p:txBody>
          <a:bodyPr/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"Virtual Engineer":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monitoring dashboards,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MachineWhisperer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integrates a </a:t>
            </a:r>
            <a:r>
              <a:rPr lang="en-US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AI agent that doesn't just alert but reasons through complex faults to execute Auto-Fix parameter corrections. 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NumPy LSTM Inference: 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model is engineered without heavy deep-learning frameworks which capable of running on low-power industrial edge hardware.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is designed to survive infrastructure failure,</a:t>
            </a: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if the main backend crashes, an independent AWS Lambda function handles critical agent logic and anomaly analysis in the cloud.  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65185B65-BFBE-8996-BFCB-A93D2E21224C}"/>
              </a:ext>
            </a:extLst>
          </p:cNvPr>
          <p:cNvSpPr/>
          <p:nvPr/>
        </p:nvSpPr>
        <p:spPr>
          <a:xfrm>
            <a:off x="6188785" y="1024939"/>
            <a:ext cx="4522758" cy="414434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>
                <a:solidFill>
                  <a:schemeClr val="bg1"/>
                </a:solidFill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Business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 Impact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A194955-6208-156E-96F5-58AEA47DF8BA}"/>
              </a:ext>
            </a:extLst>
          </p:cNvPr>
          <p:cNvSpPr txBox="1">
            <a:spLocks/>
          </p:cNvSpPr>
          <p:nvPr/>
        </p:nvSpPr>
        <p:spPr>
          <a:xfrm>
            <a:off x="6235831" y="1510947"/>
            <a:ext cx="5439354" cy="43221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Elimination of Unplanned Downtime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Prevents the average industrial loss of 22,000 per minute by detecting failures before they occur.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Maintenance Cost Reduction: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Shifts the strategy from expensive "P1" emergency repairs to low-cost "P3" scheduled maintenance. 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Asset Life Extension: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Prevents premature, multi-million dollar machine replacements by optimized operating parameters.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Redusing</a:t>
            </a:r>
            <a:r>
              <a:rPr lang="en-US" sz="1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Diagnostic Consulting Fees: 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 provides instant, expert-level root cause analysis, removing the need for external specialist intervention.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3E475E1-A4EA-45FE-9380-08A01F08E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406389"/>
            <a:ext cx="1908929" cy="27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© 2026 Cognizant</a:t>
            </a:r>
          </a:p>
        </p:txBody>
      </p:sp>
      <p:sp>
        <p:nvSpPr>
          <p:cNvPr id="14" name="Slide Number Placeholder 1">
            <a:extLst>
              <a:ext uri="{FF2B5EF4-FFF2-40B4-BE49-F238E27FC236}">
                <a16:creationId xmlns:a16="http://schemas.microsoft.com/office/drawing/2014/main" id="{BDB85E91-B178-465E-8103-E5BEC1A476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4718" y="6441045"/>
            <a:ext cx="352097" cy="19074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0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1E35-8838-5ED2-C5B6-BF0A77C9C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DC7086-439C-EB5A-C32E-4C92E219C031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A02EDDE-EE21-402C-78DC-8B80CA95E61F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MachineWhisperer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334A70-DDF9-CFF2-F8FA-4E342559EB10}"/>
              </a:ext>
            </a:extLst>
          </p:cNvPr>
          <p:cNvSpPr txBox="1"/>
          <p:nvPr/>
        </p:nvSpPr>
        <p:spPr>
          <a:xfrm>
            <a:off x="457199" y="1499000"/>
            <a:ext cx="7197366" cy="4482565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50000"/>
              </a:schemeClr>
            </a:solidFill>
          </a:ln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pPr marL="37719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Simulation: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high-fidelity physics simulator (machine_engine.py) generates real-time telemetry (Voltage, Rotation, Pressure, Vibration), creating a continuous data loop for monitoring. </a:t>
            </a:r>
          </a:p>
          <a:p>
            <a:pPr marL="37719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19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 NumPy LSTM Engine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framework-agnostic LSTM model processes a 24-second history of 12 engineered features to predict Remaining Useful Life (RUL) with sub-second latency.  </a:t>
            </a:r>
          </a:p>
          <a:p>
            <a:pPr marL="37719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19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Agent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multi-node "Virtual Engineer" (Analyze-Route-Act) powered by Claude Haiku diagnoses faults, executes autonomous "Auto-Fix" parameter corrections.  </a:t>
            </a:r>
          </a:p>
          <a:p>
            <a:pPr marL="37719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7719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Backbone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AWS-native stack utilizes DynamoDB for millisecond time-series storage, S3 for versioned reporting and Gmail for omnichannel alerting.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467C894-31FD-77B9-DD8C-EDB961BCFBDC}"/>
              </a:ext>
            </a:extLst>
          </p:cNvPr>
          <p:cNvSpPr/>
          <p:nvPr/>
        </p:nvSpPr>
        <p:spPr>
          <a:xfrm>
            <a:off x="516814" y="1044265"/>
            <a:ext cx="5426785" cy="30623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Technical Design and architecture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370DCF60-0088-4468-87BC-9CB640B6D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406389"/>
            <a:ext cx="1908929" cy="27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© 2026 Cognizant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AC83EBF4-B0FA-4DA8-94D1-19FEA5BB64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4718" y="6441045"/>
            <a:ext cx="352097" cy="19074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F22E49-2A2B-426B-8707-99D0B05C856F}"/>
              </a:ext>
            </a:extLst>
          </p:cNvPr>
          <p:cNvSpPr/>
          <p:nvPr/>
        </p:nvSpPr>
        <p:spPr>
          <a:xfrm>
            <a:off x="7861954" y="5259819"/>
            <a:ext cx="394983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Github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Link- 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  <a:hlinkClick r:id="rId3"/>
              </a:rPr>
              <a:t>https://github.com/Somu006/StudyEdge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31FF40-8254-426E-9F3B-91EDFE600B49}"/>
              </a:ext>
            </a:extLst>
          </p:cNvPr>
          <p:cNvSpPr/>
          <p:nvPr/>
        </p:nvSpPr>
        <p:spPr>
          <a:xfrm>
            <a:off x="7767687" y="4203987"/>
            <a:ext cx="4666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  <a:hlinkClick r:id="rId4"/>
              </a:rPr>
              <a:t>http://54.89.167.234:3000/</a:t>
            </a:r>
            <a:endParaRPr 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  <a:hlinkClick r:id="rId5"/>
              </a:rPr>
              <a:t>http://54.89.167.234:9000/</a:t>
            </a: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 Simulation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65C71A-174E-4171-BDCB-A7D11C857CA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383" t="704" r="25004" b="-704"/>
          <a:stretch/>
        </p:blipFill>
        <p:spPr>
          <a:xfrm>
            <a:off x="7767687" y="1876620"/>
            <a:ext cx="4289196" cy="184245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692EC3-A0A4-4DB9-8DFC-121B195BC63F}"/>
              </a:ext>
            </a:extLst>
          </p:cNvPr>
          <p:cNvSpPr/>
          <p:nvPr/>
        </p:nvSpPr>
        <p:spPr>
          <a:xfrm>
            <a:off x="10301208" y="4203987"/>
            <a:ext cx="23401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times" panose="02020603050405020304" pitchFamily="18" charset="0"/>
                <a:cs typeface="times" panose="02020603050405020304" pitchFamily="18" charset="0"/>
              </a:rPr>
              <a:t>MachineWishperer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997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206B2-2B56-208C-1D8D-A2504C8A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FEBD7C2-ABAF-7D0F-B3A2-993B35CBBCB8}"/>
              </a:ext>
            </a:extLst>
          </p:cNvPr>
          <p:cNvSpPr/>
          <p:nvPr/>
        </p:nvSpPr>
        <p:spPr>
          <a:xfrm>
            <a:off x="0" y="-43779"/>
            <a:ext cx="12191999" cy="645535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3B8E245-4828-3B89-44E7-B5C08C114BE2}"/>
              </a:ext>
            </a:extLst>
          </p:cNvPr>
          <p:cNvSpPr txBox="1">
            <a:spLocks/>
          </p:cNvSpPr>
          <p:nvPr/>
        </p:nvSpPr>
        <p:spPr>
          <a:xfrm>
            <a:off x="457199" y="175236"/>
            <a:ext cx="5778632" cy="37796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12191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121914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MachineWhisperer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5A27B2-E9FC-31F0-BBA2-0630D60A0053}"/>
              </a:ext>
            </a:extLst>
          </p:cNvPr>
          <p:cNvSpPr txBox="1"/>
          <p:nvPr/>
        </p:nvSpPr>
        <p:spPr>
          <a:xfrm>
            <a:off x="516815" y="1350496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2794A1-4959-3DC1-D2F8-05442DC7955A}"/>
              </a:ext>
            </a:extLst>
          </p:cNvPr>
          <p:cNvSpPr txBox="1"/>
          <p:nvPr/>
        </p:nvSpPr>
        <p:spPr>
          <a:xfrm>
            <a:off x="6188785" y="1439373"/>
            <a:ext cx="5486400" cy="44825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0" tIns="0" rIns="0" bIns="0" rtlCol="0">
            <a:noAutofit/>
          </a:bodyPr>
          <a:lstStyle>
            <a:defPPr>
              <a:defRPr lang="en-US"/>
            </a:defPPr>
            <a:lvl1pPr marL="9144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</a:defRPr>
            </a:lvl1pPr>
          </a:lstStyle>
          <a:p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4714BA1E-65C7-7C9C-3F08-0D0484356266}"/>
              </a:ext>
            </a:extLst>
          </p:cNvPr>
          <p:cNvSpPr/>
          <p:nvPr/>
        </p:nvSpPr>
        <p:spPr>
          <a:xfrm>
            <a:off x="516815" y="1044264"/>
            <a:ext cx="4799464" cy="325557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Scalable / Reusable</a:t>
            </a: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5CF91496-85DD-D02F-082E-D49F7DFA647E}"/>
              </a:ext>
            </a:extLst>
          </p:cNvPr>
          <p:cNvSpPr/>
          <p:nvPr/>
        </p:nvSpPr>
        <p:spPr>
          <a:xfrm>
            <a:off x="6188785" y="1024939"/>
            <a:ext cx="4156694" cy="344882"/>
          </a:xfrm>
          <a:prstGeom prst="homePlate">
            <a:avLst>
              <a:gd name="adj" fmla="val 35192"/>
            </a:avLst>
          </a:prstGeom>
          <a:solidFill>
            <a:srgbClr val="00004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684638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Segoe UI" panose="020B0502040204020203" pitchFamily="34" charset="0"/>
                <a:cs typeface="Arial" panose="020B0604020202020204" pitchFamily="34" charset="0"/>
              </a:rPr>
              <a:t>Roadmap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FA7FA394-9C18-5BA5-A7E4-5BC0E1FA68C8}"/>
              </a:ext>
            </a:extLst>
          </p:cNvPr>
          <p:cNvSpPr txBox="1">
            <a:spLocks/>
          </p:cNvSpPr>
          <p:nvPr/>
        </p:nvSpPr>
        <p:spPr>
          <a:xfrm>
            <a:off x="6235831" y="1439373"/>
            <a:ext cx="5322922" cy="406813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943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5188" indent="-230188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Cambria" panose="02040503050406030204" pitchFamily="18" charset="0"/>
              <a:buChar char="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>
              <a:spcBef>
                <a:spcPts val="0"/>
              </a:spcBef>
              <a:defRPr/>
            </a:pPr>
            <a:endParaRPr lang="en-US" sz="1400" dirty="0">
              <a:solidFill>
                <a:srgbClr val="000048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D75D3F3-FA2D-46A0-A2B5-B0D5AEB33FCC}"/>
              </a:ext>
            </a:extLst>
          </p:cNvPr>
          <p:cNvSpPr>
            <a:spLocks noGrp="1" noChangeArrowheads="1"/>
          </p:cNvSpPr>
          <p:nvPr>
            <p:ph sz="quarter" idx="21"/>
          </p:nvPr>
        </p:nvSpPr>
        <p:spPr bwMode="auto">
          <a:xfrm>
            <a:off x="516815" y="1676214"/>
            <a:ext cx="5338553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Beyond a Script: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agent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dynamic knowledge worker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uses "memory" (DynamoDB) and "reasoning" (Bedrock) to provide consistent, enterprise-grade decisions.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Autonomous Remediation: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closes the loop by performing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Auto-Fixes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(pushing corrected parameters to the simulator) rather than just alerting a human.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Partnership: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Assistant chat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human engineers to have a natural conversation with the machine’s data, turning technical logs into intuitive insights. 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DA2B34B4-5F47-4135-ABA8-4AB52BACEA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608" y="1676214"/>
            <a:ext cx="5462754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" panose="02020603050405020304" pitchFamily="18" charset="0"/>
                <a:cs typeface="times" panose="02020603050405020304" pitchFamily="18" charset="0"/>
              </a:rPr>
              <a:t>Autonomous "Virtual Engineer": </a:t>
            </a:r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Unlike traditional monitoring dashboards, </a:t>
            </a:r>
            <a:r>
              <a:rPr lang="en-US" altLang="en-US" dirty="0" err="1">
                <a:latin typeface="times" panose="02020603050405020304" pitchFamily="18" charset="0"/>
                <a:cs typeface="times" panose="02020603050405020304" pitchFamily="18" charset="0"/>
              </a:rPr>
              <a:t>MachineWhisperer</a:t>
            </a:r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 integrates a </a:t>
            </a:r>
            <a:r>
              <a:rPr lang="en-US" altLang="en-US" dirty="0" err="1">
                <a:latin typeface="times" panose="02020603050405020304" pitchFamily="18" charset="0"/>
                <a:cs typeface="times" panose="02020603050405020304" pitchFamily="18" charset="0"/>
              </a:rPr>
              <a:t>LangGraph</a:t>
            </a:r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-based AI agent that doesn't just alert but reasons through complex faults to execute Auto-Fix parameter corrections.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" panose="02020603050405020304" pitchFamily="18" charset="0"/>
                <a:cs typeface="times" panose="02020603050405020304" pitchFamily="18" charset="0"/>
              </a:rPr>
              <a:t>Pure NumPy LSTM Inference: </a:t>
            </a:r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Our model is engineered without heavy deep-learning frameworks like </a:t>
            </a:r>
            <a:r>
              <a:rPr lang="en-US" altLang="en-US" dirty="0" err="1">
                <a:latin typeface="times" panose="02020603050405020304" pitchFamily="18" charset="0"/>
                <a:cs typeface="times" panose="02020603050405020304" pitchFamily="18" charset="0"/>
              </a:rPr>
              <a:t>PyTorch</a:t>
            </a:r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 at runtime, making it a lightweight.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times" panose="02020603050405020304" pitchFamily="18" charset="0"/>
                <a:cs typeface="times" panose="02020603050405020304" pitchFamily="18" charset="0"/>
              </a:rPr>
              <a:t> Hybrid Prognostic Logic: </a:t>
            </a:r>
            <a:r>
              <a:rPr lang="en-US" altLang="en-US" dirty="0">
                <a:latin typeface="times" panose="02020603050405020304" pitchFamily="18" charset="0"/>
                <a:cs typeface="times" panose="02020603050405020304" pitchFamily="18" charset="0"/>
              </a:rPr>
              <a:t>The system calculates machine health by combining deep-learning RUL predictions with a physics-based penalty system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83E5431D-D183-4CBB-870B-E11D837B8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" y="6406389"/>
            <a:ext cx="1908929" cy="27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© 2026 Cognizant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D083738A-3321-4663-92EE-4DB2CE12E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4718" y="6441045"/>
            <a:ext cx="352097" cy="190747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3E075B-3175-45CF-B3C7-FEDF3F5961E3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48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285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96AF-1BDE-CA50-83C7-1B179E095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4277" y="873158"/>
            <a:ext cx="6248321" cy="492443"/>
          </a:xfrm>
        </p:spPr>
        <p:txBody>
          <a:bodyPr/>
          <a:lstStyle/>
          <a:p>
            <a:r>
              <a:rPr lang="en-US" sz="32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MachineWhisperer</a:t>
            </a:r>
            <a:r>
              <a:rPr lang="en-US" sz="3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Our Journey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07997B9-732D-4DB6-80B5-EA52C810CE4D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65221" y="1616142"/>
            <a:ext cx="9411008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Vision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Identified unplanned industrial downtime in Indian manufacturing as a critical fiscal drain and chose Predictive Maintenance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our core mission.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Core Development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Built 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backend and trained a pure NumPy LSTM model on the Microsoft Azure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dataset. Developed the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LangGraph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agent workflow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Bedrock Claude Haiku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AWS Ecosystem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DynamoDB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time-series persistence,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SNS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instant Email alerts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Lambda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cloud-based agentic fallback.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Scaling &amp; Deployment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Successfully deployed the full stack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EC2 (t2.small)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auto-recovery and a real-time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command center, optimized during our 24-hour Pune sprint. 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929D751B-75EA-4BAF-8E8C-824E3399E728}"/>
              </a:ext>
            </a:extLst>
          </p:cNvPr>
          <p:cNvSpPr txBox="1">
            <a:spLocks/>
          </p:cNvSpPr>
          <p:nvPr/>
        </p:nvSpPr>
        <p:spPr>
          <a:xfrm>
            <a:off x="457199" y="6406389"/>
            <a:ext cx="1908929" cy="2763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2026 Cognizant</a:t>
            </a:r>
            <a:endParaRPr lang="en-US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D575CE06-A769-47F8-BCC9-5297B72679FF}"/>
              </a:ext>
            </a:extLst>
          </p:cNvPr>
          <p:cNvSpPr txBox="1">
            <a:spLocks/>
          </p:cNvSpPr>
          <p:nvPr/>
        </p:nvSpPr>
        <p:spPr>
          <a:xfrm>
            <a:off x="164718" y="6441045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53E075B-3175-45CF-B3C7-FEDF3F5961E3}" type="slidenum">
              <a:rPr lang="en-US" sz="1400" smtClean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en-US" sz="1400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09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B9312-CD68-5C9C-0566-BC59C6085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3F6DC-034A-386C-85C3-E9BFF7BE16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2416" y="2435501"/>
            <a:ext cx="7573683" cy="923330"/>
          </a:xfrm>
        </p:spPr>
        <p:txBody>
          <a:bodyPr/>
          <a:lstStyle/>
          <a:p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Thank you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4CA09B9-7265-413B-B1E9-31FC6EAA4102}"/>
              </a:ext>
            </a:extLst>
          </p:cNvPr>
          <p:cNvSpPr txBox="1">
            <a:spLocks/>
          </p:cNvSpPr>
          <p:nvPr/>
        </p:nvSpPr>
        <p:spPr>
          <a:xfrm>
            <a:off x="457199" y="6406389"/>
            <a:ext cx="1908929" cy="27637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2026 Cognizant</a:t>
            </a:r>
            <a:endParaRPr lang="en-US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C7D71B5-EC50-40D4-9827-15A785820F55}"/>
              </a:ext>
            </a:extLst>
          </p:cNvPr>
          <p:cNvSpPr txBox="1">
            <a:spLocks/>
          </p:cNvSpPr>
          <p:nvPr/>
        </p:nvSpPr>
        <p:spPr>
          <a:xfrm>
            <a:off x="164718" y="6441045"/>
            <a:ext cx="352097" cy="190747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C53E075B-3175-45CF-B3C7-FEDF3F5961E3}" type="slidenum">
              <a:rPr lang="en-US" sz="1400" smtClean="0">
                <a:solidFill>
                  <a:srgbClr val="00004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7</a:t>
            </a:fld>
            <a:endParaRPr lang="en-US" sz="1400" dirty="0">
              <a:solidFill>
                <a:srgbClr val="00004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900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2.xml><?xml version="1.0" encoding="utf-8"?>
<a:theme xmlns:a="http://schemas.openxmlformats.org/drawingml/2006/main" name="2_Office Theme">
  <a:themeElements>
    <a:clrScheme name="Cognizant Colors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000048"/>
      </a:accent1>
      <a:accent2>
        <a:srgbClr val="2E308E"/>
      </a:accent2>
      <a:accent3>
        <a:srgbClr val="2F78C4"/>
      </a:accent3>
      <a:accent4>
        <a:srgbClr val="92BBE6"/>
      </a:accent4>
      <a:accent5>
        <a:srgbClr val="06C7CC"/>
      </a:accent5>
      <a:accent6>
        <a:srgbClr val="000048"/>
      </a:accent6>
      <a:hlink>
        <a:srgbClr val="91B9E5"/>
      </a:hlink>
      <a:folHlink>
        <a:srgbClr val="2F78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55602_MKTG_GBC_PPT-Main Template_062923_Final" id="{2379A8A4-C99D-DF46-9C1A-97F0019C8E83}" vid="{405A1980-278A-4F4F-ADCD-F119F604A48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 xmlns="0a84972d-ef8c-45a9-9686-55cfd8231be0" xsi:nil="true"/>
    <MM xmlns="0a84972d-ef8c-45a9-9686-55cfd8231be0" xsi:nil="true"/>
    <_Flow_SignoffStatus xmlns="0a84972d-ef8c-45a9-9686-55cfd8231be0" xsi:nil="true"/>
    <lcf76f155ced4ddcb4097134ff3c332f xmlns="0a84972d-ef8c-45a9-9686-55cfd8231be0">
      <Terms xmlns="http://schemas.microsoft.com/office/infopath/2007/PartnerControls"/>
    </lcf76f155ced4ddcb4097134ff3c332f>
    <TaxCatchAll xmlns="3c35e321-f73a-4dae-ae38-a0459de2473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E60DD53B08764D9FBA21DBED3214CC" ma:contentTypeVersion="22" ma:contentTypeDescription="Create a new document." ma:contentTypeScope="" ma:versionID="3dd4086fc227d84930da0763be3e0042">
  <xsd:schema xmlns:xsd="http://www.w3.org/2001/XMLSchema" xmlns:xs="http://www.w3.org/2001/XMLSchema" xmlns:p="http://schemas.microsoft.com/office/2006/metadata/properties" xmlns:ns2="0a84972d-ef8c-45a9-9686-55cfd8231be0" xmlns:ns3="1eec79b3-321e-4dfa-8d23-6bc73fc62350" xmlns:ns4="3c35e321-f73a-4dae-ae38-a0459de24735" targetNamespace="http://schemas.microsoft.com/office/2006/metadata/properties" ma:root="true" ma:fieldsID="d8be992cee903fad960eda9f235136ae" ns2:_="" ns3:_="" ns4:_="">
    <xsd:import namespace="0a84972d-ef8c-45a9-9686-55cfd8231be0"/>
    <xsd:import namespace="1eec79b3-321e-4dfa-8d23-6bc73fc62350"/>
    <xsd:import namespace="3c35e321-f73a-4dae-ae38-a0459de247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Source" minOccurs="0"/>
                <xsd:element ref="ns2:MediaServiceBillingMetadata" minOccurs="0"/>
                <xsd:element ref="ns2:M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84972d-ef8c-45a9-9686-55cfd8231b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63b7d1d5-7262-4eb7-85df-493a730aa64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ource" ma:index="27" nillable="true" ma:displayName="Source" ma:format="Dropdown" ma:internalName="Source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M" ma:index="29" nillable="true" ma:displayName="MM" ma:format="DateOnly" ma:internalName="MM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ec79b3-321e-4dfa-8d23-6bc73fc6235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35e321-f73a-4dae-ae38-a0459de24735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4a3e1da5-f246-4675-b38f-a7f514a07e2f}" ma:internalName="TaxCatchAll" ma:showField="CatchAllData" ma:web="1eec79b3-321e-4dfa-8d23-6bc73fc623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1035EC-6D18-44A4-BB42-C9DEBF2D5983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1eec79b3-321e-4dfa-8d23-6bc73fc62350"/>
    <ds:schemaRef ds:uri="http://purl.org/dc/dcmitype/"/>
    <ds:schemaRef ds:uri="http://schemas.microsoft.com/office/infopath/2007/PartnerControls"/>
    <ds:schemaRef ds:uri="3c35e321-f73a-4dae-ae38-a0459de24735"/>
    <ds:schemaRef ds:uri="http://www.w3.org/XML/1998/namespace"/>
    <ds:schemaRef ds:uri="0a84972d-ef8c-45a9-9686-55cfd8231be0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B24D5D3-2BE3-4278-95F2-2A2616C3D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a84972d-ef8c-45a9-9686-55cfd8231be0"/>
    <ds:schemaRef ds:uri="1eec79b3-321e-4dfa-8d23-6bc73fc62350"/>
    <ds:schemaRef ds:uri="3c35e321-f73a-4dae-ae38-a0459de247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3E83F0-6E45-4BB2-99A3-73A594F63EE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de08c407-19b9-427d-9fe8-edf254300ca7}" enabled="0" method="" siteId="{de08c407-19b9-427d-9fe8-edf254300ca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6541</TotalTime>
  <Words>843</Words>
  <Application>Microsoft Office PowerPoint</Application>
  <PresentationFormat>Widescreen</PresentationFormat>
  <Paragraphs>85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Cambria</vt:lpstr>
      <vt:lpstr>Segoe UI</vt:lpstr>
      <vt:lpstr>times</vt:lpstr>
      <vt:lpstr>Times New Roman</vt:lpstr>
      <vt:lpstr>1_Office Theme</vt:lpstr>
      <vt:lpstr>2_Office Theme</vt:lpstr>
      <vt:lpstr>Study Edge</vt:lpstr>
      <vt:lpstr>PowerPoint Presentation</vt:lpstr>
      <vt:lpstr>PowerPoint Presentation</vt:lpstr>
      <vt:lpstr>PowerPoint Presentation</vt:lpstr>
      <vt:lpstr>PowerPoint Presentation</vt:lpstr>
      <vt:lpstr>MachineWhisperer - Our Journey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Bluebolt Excellence Awards 2025 FAQ Document</dc:title>
  <dc:subject/>
  <dc:creator>krishna agrawal</dc:creator>
  <cp:keywords/>
  <dc:description/>
  <cp:lastModifiedBy>krishna agrawal</cp:lastModifiedBy>
  <cp:revision>20</cp:revision>
  <dcterms:created xsi:type="dcterms:W3CDTF">2022-04-01T05:31:57Z</dcterms:created>
  <dcterms:modified xsi:type="dcterms:W3CDTF">2026-05-07T04:21:37Z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Rejected By">
    <vt:lpwstr/>
  </property>
  <property fmtid="{D5CDD505-2E9C-101B-9397-08002B2CF9AE}" pid="4" name="Will our competitors be interested in acquiring the information shared in this document?">
    <vt:lpwstr>Little or no chance</vt:lpwstr>
  </property>
  <property fmtid="{D5CDD505-2E9C-101B-9397-08002B2CF9AE}" pid="5" name="Criticality">
    <vt:lpwstr>C3</vt:lpwstr>
  </property>
  <property fmtid="{D5CDD505-2E9C-101B-9397-08002B2CF9AE}" pid="6" name="Last Updated By">
    <vt:lpwstr>717;#717</vt:lpwstr>
  </property>
  <property fmtid="{D5CDD505-2E9C-101B-9397-08002B2CF9AE}" pid="7" name="ContentTypeId">
    <vt:lpwstr>0x010100C0E60DD53B08764D9FBA21DBED3214CC</vt:lpwstr>
  </property>
  <property fmtid="{D5CDD505-2E9C-101B-9397-08002B2CF9AE}" pid="8" name="PreviousFeatured">
    <vt:lpwstr>Approved-False</vt:lpwstr>
  </property>
  <property fmtid="{D5CDD505-2E9C-101B-9397-08002B2CF9AE}" pid="9" name="Approved Date">
    <vt:filetime>2025-12-22T13:28:00Z</vt:filetime>
  </property>
  <property fmtid="{D5CDD505-2E9C-101B-9397-08002B2CF9AE}" pid="10" name="Approved By">
    <vt:lpwstr>717;#717</vt:lpwstr>
  </property>
</Properties>
</file>